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26464"/>
            <a:ext cx="9144000" cy="2743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"/>
            <a:ext cx="1645920" cy="10058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in K3s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0" y="7498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Backup · On-Prem · Commands &amp; Restore Guide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7465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112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etcd?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69164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7465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2112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Backup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7465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112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Strategy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7465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112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K3s Commands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3072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&amp; Restore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265176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6888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468880" y="3072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vs K8s vs OCP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65176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0" y="3072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 &amp; Alternatives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2651760"/>
            <a:ext cx="192024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75120" y="3072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 &amp; Cons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93A4"/>
                </a:solidFill>
              </a:rPr>
              <a:t>2024 Edition  ·  K3s + Azure Blob Storage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etcd?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brain of Kubernetes — a distributed key-value store built on Raft consensus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5486400" cy="1078992"/>
          </a:xfrm>
          <a:prstGeom prst="rect">
            <a:avLst/>
          </a:prstGeom>
          <a:solidFill>
            <a:srgbClr val="E5F3FB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is an open-source, strongly consistent, distributed key-value store. Originally built by CoreOS (Red Hat), it is the primary datastore for all Kubernetes cluster state — Pods, Secrets, ConfigMaps, RBAC, Services. Without etcd, Kubernetes has no memory.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886968"/>
            <a:ext cx="960120" cy="10789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v3.5+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14630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E6FF"/>
                </a:solidFill>
              </a:rPr>
              <a:t>Version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13448" y="886968"/>
            <a:ext cx="960120" cy="1078992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13448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gRPC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13448" y="14630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E6FF"/>
                </a:solidFill>
              </a:rPr>
              <a:t>Protocol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37576" y="886968"/>
            <a:ext cx="960120" cy="107899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37576" y="987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37576" y="14630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E6FF"/>
                </a:solidFill>
              </a:rPr>
              <a:t>Consensus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031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1031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194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8600" y="2633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Strongly Consistent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907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All reads reflect latest committed writes via Raft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21031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1031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194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154680" y="2633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Cluster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2907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Odd node counts: 3, 5, 7 for fault tolerance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21031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1031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194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80760" y="2633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Availability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9077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Survives (N-1)/2 node failures automatically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4747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4747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5661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28600" y="40050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4279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Real-time push notifications on key changes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34747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34747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35661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154680" y="40050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Lease &amp; TTL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54680" y="4279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Expiring keys enable service discovery patterns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0760" y="3474720"/>
            <a:ext cx="2788920" cy="1234440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474720"/>
            <a:ext cx="278892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35661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080760" y="40050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MVCC Storage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4279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Multi-version concurrency, revision history kept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in K3s —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ships an embedded etcd — no separate cluster installation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868680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869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Server Node  (Control Plane + Embedded etcd)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1627632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26187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Server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261872"/>
            <a:ext cx="1627632" cy="566928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26187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Mgr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0752" y="1261872"/>
            <a:ext cx="1627632" cy="56692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0752" y="126187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68112" y="1261872"/>
            <a:ext cx="1627632" cy="56692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126187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etcd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05472" y="1261872"/>
            <a:ext cx="1627632" cy="5669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5472" y="126187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 (optional)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1938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</a:rPr>
              <a:t>K3s etcd Key Characteristics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267712"/>
            <a:ext cx="425196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267712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225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Binary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59689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etcd is embedded inside the k3s binary — no separate etcd process to install, configure or manage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425196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67712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225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Bootstrap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59689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Launch k3s server --cluster-init and etcd bootstraps automatically across server nodes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145536"/>
            <a:ext cx="425196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145536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Location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4747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Stored at /var/lib/rancher/k3s/server/db/etcd (RocksDB-backed by default)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145536"/>
            <a:ext cx="425196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145536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Cluster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4747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Requires odd server count (3+). First node: --cluster-init. Others: --server &lt;first-node-url&gt;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4023360"/>
            <a:ext cx="4251960" cy="804672"/>
          </a:xfrm>
          <a:prstGeom prst="rect">
            <a:avLst/>
          </a:prstGeom>
          <a:solidFill>
            <a:srgbClr val="E5F3FB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4023360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78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Snapshots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35254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Native cron-based snapshot scheduling. Supports local disk and Azure Blob Storage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4023360"/>
            <a:ext cx="425196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023360"/>
            <a:ext cx="54864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078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435254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Entire K3s binary ~70MB vs full K8s control plane ~200-400MB. Ideal for edge &amp; on-prem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 vs  Kubernetes  vs  OpenShift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etcd architecture, backup approach and operational complexity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886968"/>
            <a:ext cx="2194560" cy="365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86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4016" y="886968"/>
            <a:ext cx="201168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886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886968"/>
            <a:ext cx="2331720" cy="36576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886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(vanilla)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886968"/>
            <a:ext cx="2331720" cy="365760"/>
          </a:xfrm>
          <a:prstGeom prst="rect">
            <a:avLst/>
          </a:prstGeom>
          <a:solidFill>
            <a:srgbClr val="6B2FBA"/>
          </a:solidFill>
          <a:ln w="12700">
            <a:solidFill>
              <a:srgbClr val="6B2F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886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(OCP)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271016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2710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Type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14016" y="127101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2710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(built-in)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53128" y="1271016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12710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/ standalone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1271016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2710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by OCP operator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1645920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Required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14016" y="1645920"/>
            <a:ext cx="201168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53128" y="1645920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Manual setup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12280" y="1645920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67144" y="1645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Handled by installer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" y="2020824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2020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Datastore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14016" y="202082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0208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(single) / etcd HA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53128" y="2020824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20208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always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12280" y="2020824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67144" y="20208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 always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" y="2395728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Tool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14016" y="2395728"/>
            <a:ext cx="201168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3957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etcd-snapshot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53128" y="2395728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etcdctl snapshot save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12280" y="2395728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67144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OCP etcd-backup.sh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2770632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770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Support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14016" y="27706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27706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Native (S3-compat)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53128" y="2770632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07992" y="27706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Manual scripting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12280" y="2770632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67144" y="27706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Manual scripting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2880" y="3145536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" y="31455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Automation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14016" y="3145536"/>
            <a:ext cx="201168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3145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cron schedule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53128" y="3145536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07992" y="31455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/ K8s CronJob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12280" y="3145536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67144" y="31455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CronJob / MCO operator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3520440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7744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Procedure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414016" y="35204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--cluster-reset flag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453128" y="352044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07992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etcdctl snapshot restore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812280" y="352044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67144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OCP recovery runbook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2880" y="3895344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7744" y="38953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Setup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414016" y="3895344"/>
            <a:ext cx="201168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68880" y="38953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Odd server count (3+)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453128" y="3895344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07992" y="38953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etcd cluster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812280" y="3895344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67144" y="38953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by operators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82880" y="4270248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" y="4270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Footprint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414016" y="427024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8880" y="4270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low (~70 MB)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453128" y="4270248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07992" y="42702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(~200–400 MB)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812280" y="4270248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67144" y="42702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high (&gt;1 GB total)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82880" y="4645152"/>
            <a:ext cx="2194560" cy="36576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" y="46451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Suitability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414016" y="4645152"/>
            <a:ext cx="201168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68880" y="4645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⭐⭐⭐⭐⭐ Excellent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453128" y="4645152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07992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⭐⭐⭐ Good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812280" y="4645152"/>
            <a:ext cx="2331720" cy="36576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67144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⭐⭐ Complex setup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Storage — etcd Backup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natively supports S3-compatible endpoints — Azure Blob works with the S3 compatibility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868680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869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Azure Blob Storage acts as S3-compatible endpoint via Azure Blob S3 Compatibility or Azurite (local dev)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08176"/>
            <a:ext cx="4251960" cy="292608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40817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🔧  Azure Blob Setup (k3s flags)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719072"/>
            <a:ext cx="4251960" cy="1508760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" y="1810512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10512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1810512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965960"/>
            <a:ext cx="40690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--cluster-init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--etcd-snapshot-schedule-cron '0 */6 * * *'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--etcd-snapshot-retention 14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--etcd-s3-endpoint https://&lt;account&gt;.blob.core.windows.net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--etcd-s3-access-key &lt;storage-account-name&gt;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--etcd-s3-secret-key &lt;storage-account-key&gt;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--etcd-s3-bucket &lt;container-name&gt;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--etcd-s3-region AzureGlobal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9160" y="1408176"/>
            <a:ext cx="4206240" cy="29260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081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📸  Manual Snapshot → Azure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719072"/>
            <a:ext cx="4206240" cy="1508760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1810512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810512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1810512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965960"/>
            <a:ext cx="402336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snapshot directly to Azure Blob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save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etcd-$(date +%Y%m%d-%H%M)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--etcd-s3-endpoint https://&lt;acct&gt;.blob.core.windows.net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--etcd-s3-access-key &lt;account-name&gt;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--etcd-s3-secret-key &lt;account-key&gt;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--etcd-s3-bucket k3s-etcd-backups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snapshots in Azure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list --etcd-s3 [flags]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3310128"/>
            <a:ext cx="2103120" cy="1664208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" y="3355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0040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</a:rPr>
              <a:t>Prerequisite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0050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F79"/>
                </a:solidFill>
              </a:rPr>
              <a:t>Create Azure Storage Account → Enable 'Blob service' → Create container 'k3s-etcd-backups'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41448" y="3310128"/>
            <a:ext cx="2103120" cy="1664208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41448" y="3355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532888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</a:rPr>
              <a:t>Authentication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32888" y="40050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F79"/>
                </a:solidFill>
              </a:rPr>
              <a:t>Use Storage Account Key, or SAS token. For prod, use Managed Identity + Azure Key Vault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54296" y="3310128"/>
            <a:ext cx="2103120" cy="1664208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54296" y="3355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45736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</a:rPr>
              <a:t>S3 Compat Layer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45736" y="40050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F79"/>
                </a:solidFill>
              </a:rPr>
              <a:t>Azure Blob S3 Compatibility: endpoint = https://&lt;account&gt;.blob.core.windows.net/&lt;container&gt;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67144" y="3310128"/>
            <a:ext cx="2103120" cy="1664208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67144" y="33558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58584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578"/>
                </a:solidFill>
              </a:rPr>
              <a:t>Cost Tip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58584" y="40050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F79"/>
                </a:solidFill>
              </a:rPr>
              <a:t>Use LRS (Locally Redundant) tier for backups. Enable lifecycle policy to auto-delete old snapshots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etcd — Complete Command Reference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commands you need for backup, restore, inspection and cluster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2880360" cy="2743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Snapshot — Local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16128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" y="125272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5272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25272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40817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Manual local snapshot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save --name my-snapshot-$(date +%F)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Scheduled via server flags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--etcd-snapshot-schedule-cron '0 2 * * *'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--etcd-snapshot-retention 7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local snapshots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list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a snapshot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delete --name &lt;snapshot-name&gt;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191256" y="886968"/>
            <a:ext cx="288036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88696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Snapshot — Azure Blob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91256" y="116128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00984" y="125272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65576" y="125272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125272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140817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directly to Azure Blob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save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--etcd-s3-endpoint https://&lt;acct&gt;.blob.core.windows.net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--etcd-s3-access-key &lt;storage-acct-name&gt;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--etcd-s3-secret-key &lt;key&gt;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--etcd-s3-bucket k3s-etcd-backups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etcd-$(date +%F)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snapshots in Azure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list --etcd-s3 [azure flags above]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6181344" y="886968"/>
            <a:ext cx="2880360" cy="274320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88696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Restore — Local Snapshot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81344" y="116128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25272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125272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0256" y="125272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40817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Stop k3s on ALL nodes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stop k3s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Restore on FIRST server only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--cluster-reset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--cluster-reset-restore-path=/var/lib/rancher/k3s/\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server/db/snapshots/&lt;snapshot-name&gt;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Clean DB on other servers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/var/lib/rancher/k3s/server/db  # other nodes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Start first server, then others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 k3s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201168" y="3035808"/>
            <a:ext cx="2880360" cy="27432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3580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Restore — From Azure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31012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" y="340156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40156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40156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355701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 snapshot stored in Azure Blob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--cluster-reset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--cluster-reset-restore-path=&lt;snapshot-name&gt;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--etcd-s3-endpoint https://&lt;acct&gt;.blob.core.windows.net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--etcd-s3-access-key &lt;storage-acct-name&gt;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--etcd-s3-secret-key &lt;key&gt;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--etcd-s3-bucket k3s-etcd-backups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 k3s  # restart after reset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3191256" y="3035808"/>
            <a:ext cx="2880360" cy="274320"/>
          </a:xfrm>
          <a:prstGeom prst="rect">
            <a:avLst/>
          </a:prstGeom>
          <a:solidFill>
            <a:srgbClr val="6B2FBA"/>
          </a:solidFill>
          <a:ln w="12700">
            <a:solidFill>
              <a:srgbClr val="6B2F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3580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Inspect &amp; Debug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91256" y="331012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00984" y="340156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65576" y="340156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0168" y="340156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355701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etcd health (inside k3s)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list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snapshot metadata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ETCDCTL_API=3 etcdctl snapshot status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/var/lib/rancher/k3s/server/db/snapshots/&lt;snap&gt;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etcd members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ETCDCTL_API=3 etcdctl member list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--endpoints=https://127.0.0.1:2379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--cacert /var/lib/rancher/k3s/server/tls/etcd/server-ca.crt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   /var/lib/rancher/k3s/server/tls/etcd/client.crt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--key    /var/lib/rancher/k3s/server/tls/etcd/client.key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181344" y="3035808"/>
            <a:ext cx="2880360" cy="2743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035808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🧹 Maintenance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3310128"/>
            <a:ext cx="2880360" cy="18105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91072" y="340156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55664" y="340156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0256" y="340156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557016"/>
            <a:ext cx="269748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Compact etcd (free revision history)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ETCDCTL_API=3 etcdctl compact $(etcdctl endpoint status \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--write-out="json" | jq '.[0].Status.header.revision')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Defragment etcd storage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ETCDCTL_API=3 etcdctl defrag --endpoints=https://127.0.0.1:2379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DB size (watch &lt; 8GB quota)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ETCDCTL_API=3 etcdctl endpoint status --write-out=table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K3s cluster-init (new HA cluster)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--cluster-init --cluster-cidr=10.42.0.0/16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On-Premises etcd Backup Strategy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a production-grade etcd backup pipeline for air-gapped or on-prem environments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86968"/>
            <a:ext cx="1463040" cy="8046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K3s 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Nodes (x3)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47088" y="1005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21408" y="886968"/>
            <a:ext cx="146304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21408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etcd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Snapshot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02736" y="1005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77056" y="886968"/>
            <a:ext cx="1463040" cy="804672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77056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77056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58384" y="1005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32704" y="886968"/>
            <a:ext cx="1463040" cy="8046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32704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32704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NFS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14032" y="1005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88352" y="886968"/>
            <a:ext cx="146304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88352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Azure Blob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(Remote)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1828800"/>
            <a:ext cx="427939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1828800"/>
            <a:ext cx="54864" cy="14813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88366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MinIO (S3-Compatible On-Prem)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2194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Deploy MinIO on bare-metal or VM — fully S3-compatible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24688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k3s etcd-snapshot --etcd-s3 --etcd-s3-endpoint http://minio.internal:9000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7432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MinIO supports replication to Azure Blob for DR off-site copy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0175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Use MinIO Lifecycle rules for automatic snapshot rotation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90872" y="1828800"/>
            <a:ext cx="427939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1828800"/>
            <a:ext cx="54864" cy="148132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88366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NFS + Cron Job Approach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2194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Mount NFS share on all K3s nodes: /mnt/etcd-backups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24688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Script: k3s etcd-snapshot save then rsync to NFS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28032" y="27432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Run as systemd timer: every 6h, retain 30 snapshots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28032" y="30175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Best for air-gapped clusters with no internet access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401568"/>
            <a:ext cx="427939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1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401568"/>
            <a:ext cx="54864" cy="148132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4564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Velero + MinIO (App-level Backup)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" y="376732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Velero backs up K8s objects to MinIO (S3-compat on-prem)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041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Complements etcd backup — handles PV snapshots too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4315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Schedule: velero schedule create daily --schedule='0 1 * * *'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4590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Velero restores namespaces/apps; etcd restores whole cluster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90872" y="3401568"/>
            <a:ext cx="427939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6B2FB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90872" y="3401568"/>
            <a:ext cx="54864" cy="1481328"/>
          </a:xfrm>
          <a:prstGeom prst="rect">
            <a:avLst/>
          </a:prstGeom>
          <a:solidFill>
            <a:srgbClr val="6B2FBA"/>
          </a:solidFill>
          <a:ln w="12700">
            <a:solidFill>
              <a:srgbClr val="6B2FB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4564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🏭  Ceph RBD / vSphere Snapshots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28032" y="376732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Take VM/block-level snapshot of etcd node disk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4041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Works with Ceph RBD, vSphere VM, or Proxmox snapshots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4315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Captures entire OS + etcd state — fastest restore path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28032" y="4590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Best paired with application-level snapshots (etcdctl)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Kubernetes — Solution Comparison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right etcd backup &amp; datastore for on-premises deployments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" y="886968"/>
            <a:ext cx="141732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81912" y="886968"/>
            <a:ext cx="118872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8869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Datastore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98064" y="886968"/>
            <a:ext cx="150876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8869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Tool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886968"/>
            <a:ext cx="91440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8869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76088" y="886968"/>
            <a:ext cx="566928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88696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70448" y="886968"/>
            <a:ext cx="896112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8869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93992" y="886968"/>
            <a:ext cx="2423160" cy="347472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886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" y="1252728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252728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+ etcd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581912" y="1252728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7632" y="1252728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etcd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798064" y="1252728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1252728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etcd-snapshot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334256" y="1252728"/>
            <a:ext cx="914400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9976" y="1252728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Native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276088" y="1252728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252728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870448" y="1252728"/>
            <a:ext cx="8961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16168" y="12527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93992" y="1252728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125272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Edge, IoT, small prod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37160" y="1673352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673352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+ SQLite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581912" y="1673352"/>
            <a:ext cx="118872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27632" y="167335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(Kine)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798064" y="1673352"/>
            <a:ext cx="15087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1673352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copy / cron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334256" y="1673352"/>
            <a:ext cx="914400" cy="411480"/>
          </a:xfrm>
          <a:prstGeom prst="rect">
            <a:avLst/>
          </a:prstGeom>
          <a:solidFill>
            <a:srgbClr val="FFFBE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9976" y="1673352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Manual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276088" y="1673352"/>
            <a:ext cx="566928" cy="411480"/>
          </a:xfrm>
          <a:prstGeom prst="rect">
            <a:avLst/>
          </a:prstGeom>
          <a:solidFill>
            <a:srgbClr val="FFF1F2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1673352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870448" y="1673352"/>
            <a:ext cx="896112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16168" y="16733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Low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793992" y="1673352"/>
            <a:ext cx="24231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1673352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Dev/test, single-node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37160" y="2093976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093976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+ PostgreSQL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581912" y="2093976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27632" y="2093976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(Kine)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2798064" y="2093976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93976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pg_dump / WAL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4334256" y="2093976"/>
            <a:ext cx="914400" cy="411480"/>
          </a:xfrm>
          <a:prstGeom prst="rect">
            <a:avLst/>
          </a:prstGeom>
          <a:solidFill>
            <a:srgbClr val="FFFBE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9976" y="2093976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Manual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5276088" y="2093976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2093976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5870448" y="2093976"/>
            <a:ext cx="8961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16168" y="20939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793992" y="2093976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712" y="2093976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Enterprises w/ DBA team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37160" y="2514600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251460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K8s + etcd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581912" y="2514600"/>
            <a:ext cx="118872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27632" y="251460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etcd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798064" y="2514600"/>
            <a:ext cx="15087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43784" y="2514600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etcdctl + CronJob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4334256" y="2514600"/>
            <a:ext cx="914400" cy="411480"/>
          </a:xfrm>
          <a:prstGeom prst="rect">
            <a:avLst/>
          </a:prstGeom>
          <a:solidFill>
            <a:srgbClr val="FFFBE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9976" y="2514600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Manual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5276088" y="2514600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251460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5870448" y="2514600"/>
            <a:ext cx="896112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16168" y="25146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6793992" y="2514600"/>
            <a:ext cx="24231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39712" y="251460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control, large clusters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37160" y="2935224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" y="2935224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RKE2 (Rancher)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1581912" y="2935224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27632" y="2935224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etcd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2798064" y="2935224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43784" y="2935224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rke2 etcd-snapshot</a:t>
            </a:r>
            <a:endParaRPr lang="en-US" sz="820" dirty="0"/>
          </a:p>
        </p:txBody>
      </p:sp>
      <p:sp>
        <p:nvSpPr>
          <p:cNvPr id="83" name="Shape 81"/>
          <p:cNvSpPr/>
          <p:nvPr/>
        </p:nvSpPr>
        <p:spPr>
          <a:xfrm>
            <a:off x="4334256" y="2935224"/>
            <a:ext cx="914400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79976" y="2935224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Native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5276088" y="2935224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21808" y="2935224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5870448" y="2935224"/>
            <a:ext cx="8961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16168" y="29352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20" dirty="0"/>
          </a:p>
        </p:txBody>
      </p:sp>
      <p:sp>
        <p:nvSpPr>
          <p:cNvPr id="89" name="Shape 87"/>
          <p:cNvSpPr/>
          <p:nvPr/>
        </p:nvSpPr>
        <p:spPr>
          <a:xfrm>
            <a:off x="6793992" y="2935224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39712" y="2935224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Rancher enterprise users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37160" y="3355848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2880" y="3355848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OpenShift (OCP)</a:t>
            </a:r>
            <a:endParaRPr lang="en-US" sz="820" dirty="0"/>
          </a:p>
        </p:txBody>
      </p:sp>
      <p:sp>
        <p:nvSpPr>
          <p:cNvPr id="93" name="Shape 91"/>
          <p:cNvSpPr/>
          <p:nvPr/>
        </p:nvSpPr>
        <p:spPr>
          <a:xfrm>
            <a:off x="1581912" y="3355848"/>
            <a:ext cx="118872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27632" y="3355848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etcd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2798064" y="3355848"/>
            <a:ext cx="15087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43784" y="3355848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etcd-backup.sh</a:t>
            </a:r>
            <a:endParaRPr lang="en-US" sz="820" dirty="0"/>
          </a:p>
        </p:txBody>
      </p:sp>
      <p:sp>
        <p:nvSpPr>
          <p:cNvPr id="97" name="Shape 95"/>
          <p:cNvSpPr/>
          <p:nvPr/>
        </p:nvSpPr>
        <p:spPr>
          <a:xfrm>
            <a:off x="4334256" y="3355848"/>
            <a:ext cx="914400" cy="411480"/>
          </a:xfrm>
          <a:prstGeom prst="rect">
            <a:avLst/>
          </a:prstGeom>
          <a:solidFill>
            <a:srgbClr val="FFF1F2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79976" y="3355848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Script</a:t>
            </a:r>
            <a:endParaRPr lang="en-US" sz="820" dirty="0"/>
          </a:p>
        </p:txBody>
      </p:sp>
      <p:sp>
        <p:nvSpPr>
          <p:cNvPr id="99" name="Shape 97"/>
          <p:cNvSpPr/>
          <p:nvPr/>
        </p:nvSpPr>
        <p:spPr>
          <a:xfrm>
            <a:off x="5276088" y="3355848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321808" y="3355848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5870448" y="3355848"/>
            <a:ext cx="896112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16168" y="33558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High</a:t>
            </a:r>
            <a:endParaRPr lang="en-US" sz="820" dirty="0"/>
          </a:p>
        </p:txBody>
      </p:sp>
      <p:sp>
        <p:nvSpPr>
          <p:cNvPr id="103" name="Shape 101"/>
          <p:cNvSpPr/>
          <p:nvPr/>
        </p:nvSpPr>
        <p:spPr>
          <a:xfrm>
            <a:off x="6793992" y="3355848"/>
            <a:ext cx="24231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39712" y="335584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enterprise env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37160" y="3776472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82880" y="3776472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MicroK8s</a:t>
            </a:r>
            <a:endParaRPr lang="en-US" sz="820" dirty="0"/>
          </a:p>
        </p:txBody>
      </p:sp>
      <p:sp>
        <p:nvSpPr>
          <p:cNvPr id="107" name="Shape 105"/>
          <p:cNvSpPr/>
          <p:nvPr/>
        </p:nvSpPr>
        <p:spPr>
          <a:xfrm>
            <a:off x="1581912" y="3776472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627632" y="377647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dqlite (embedded)</a:t>
            </a:r>
            <a:endParaRPr lang="en-US" sz="820" dirty="0"/>
          </a:p>
        </p:txBody>
      </p:sp>
      <p:sp>
        <p:nvSpPr>
          <p:cNvPr id="109" name="Shape 107"/>
          <p:cNvSpPr/>
          <p:nvPr/>
        </p:nvSpPr>
        <p:spPr>
          <a:xfrm>
            <a:off x="2798064" y="3776472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43784" y="3776472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microk8s backup</a:t>
            </a:r>
            <a:endParaRPr lang="en-US" sz="820" dirty="0"/>
          </a:p>
        </p:txBody>
      </p:sp>
      <p:sp>
        <p:nvSpPr>
          <p:cNvPr id="111" name="Shape 109"/>
          <p:cNvSpPr/>
          <p:nvPr/>
        </p:nvSpPr>
        <p:spPr>
          <a:xfrm>
            <a:off x="4334256" y="3776472"/>
            <a:ext cx="914400" cy="411480"/>
          </a:xfrm>
          <a:prstGeom prst="rect">
            <a:avLst/>
          </a:prstGeom>
          <a:solidFill>
            <a:srgbClr val="FFF1F2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79976" y="3776472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Manual</a:t>
            </a:r>
            <a:endParaRPr lang="en-US" sz="820" dirty="0"/>
          </a:p>
        </p:txBody>
      </p:sp>
      <p:sp>
        <p:nvSpPr>
          <p:cNvPr id="113" name="Shape 111"/>
          <p:cNvSpPr/>
          <p:nvPr/>
        </p:nvSpPr>
        <p:spPr>
          <a:xfrm>
            <a:off x="5276088" y="3776472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21808" y="3776472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115" name="Shape 113"/>
          <p:cNvSpPr/>
          <p:nvPr/>
        </p:nvSpPr>
        <p:spPr>
          <a:xfrm>
            <a:off x="5870448" y="3776472"/>
            <a:ext cx="8961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16168" y="37764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820" dirty="0"/>
          </a:p>
        </p:txBody>
      </p:sp>
      <p:sp>
        <p:nvSpPr>
          <p:cNvPr id="117" name="Shape 115"/>
          <p:cNvSpPr/>
          <p:nvPr/>
        </p:nvSpPr>
        <p:spPr>
          <a:xfrm>
            <a:off x="6793992" y="3776472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839712" y="3776472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Ubuntu, dev/edge clusters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137160" y="4197096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82880" y="4197096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Talos + K8s</a:t>
            </a:r>
            <a:endParaRPr lang="en-US" sz="820" dirty="0"/>
          </a:p>
        </p:txBody>
      </p:sp>
      <p:sp>
        <p:nvSpPr>
          <p:cNvPr id="121" name="Shape 119"/>
          <p:cNvSpPr/>
          <p:nvPr/>
        </p:nvSpPr>
        <p:spPr>
          <a:xfrm>
            <a:off x="1581912" y="4197096"/>
            <a:ext cx="118872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627632" y="4197096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etcd</a:t>
            </a:r>
            <a:endParaRPr lang="en-US" sz="820" dirty="0"/>
          </a:p>
        </p:txBody>
      </p:sp>
      <p:sp>
        <p:nvSpPr>
          <p:cNvPr id="123" name="Shape 121"/>
          <p:cNvSpPr/>
          <p:nvPr/>
        </p:nvSpPr>
        <p:spPr>
          <a:xfrm>
            <a:off x="2798064" y="4197096"/>
            <a:ext cx="15087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843784" y="4197096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etcdctl + Talos API</a:t>
            </a:r>
            <a:endParaRPr lang="en-US" sz="820" dirty="0"/>
          </a:p>
        </p:txBody>
      </p:sp>
      <p:sp>
        <p:nvSpPr>
          <p:cNvPr id="125" name="Shape 123"/>
          <p:cNvSpPr/>
          <p:nvPr/>
        </p:nvSpPr>
        <p:spPr>
          <a:xfrm>
            <a:off x="4334256" y="4197096"/>
            <a:ext cx="914400" cy="411480"/>
          </a:xfrm>
          <a:prstGeom prst="rect">
            <a:avLst/>
          </a:prstGeom>
          <a:solidFill>
            <a:srgbClr val="FFFBE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379976" y="4197096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Manual</a:t>
            </a:r>
            <a:endParaRPr lang="en-US" sz="820" dirty="0"/>
          </a:p>
        </p:txBody>
      </p:sp>
      <p:sp>
        <p:nvSpPr>
          <p:cNvPr id="127" name="Shape 125"/>
          <p:cNvSpPr/>
          <p:nvPr/>
        </p:nvSpPr>
        <p:spPr>
          <a:xfrm>
            <a:off x="5276088" y="4197096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321808" y="4197096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129" name="Shape 127"/>
          <p:cNvSpPr/>
          <p:nvPr/>
        </p:nvSpPr>
        <p:spPr>
          <a:xfrm>
            <a:off x="5870448" y="4197096"/>
            <a:ext cx="896112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16168" y="419709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20" dirty="0"/>
          </a:p>
        </p:txBody>
      </p:sp>
      <p:sp>
        <p:nvSpPr>
          <p:cNvPr id="131" name="Shape 129"/>
          <p:cNvSpPr/>
          <p:nvPr/>
        </p:nvSpPr>
        <p:spPr>
          <a:xfrm>
            <a:off x="6793992" y="4197096"/>
            <a:ext cx="2423160" cy="411480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839712" y="4197096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OS / GitOps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37160" y="4617720"/>
            <a:ext cx="1417320" cy="411480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82880" y="4617720"/>
            <a:ext cx="134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+ MinIO</a:t>
            </a:r>
            <a:endParaRPr lang="en-US" sz="820" dirty="0"/>
          </a:p>
        </p:txBody>
      </p:sp>
      <p:sp>
        <p:nvSpPr>
          <p:cNvPr id="135" name="Shape 133"/>
          <p:cNvSpPr/>
          <p:nvPr/>
        </p:nvSpPr>
        <p:spPr>
          <a:xfrm>
            <a:off x="1581912" y="4617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627632" y="461772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etcd</a:t>
            </a:r>
            <a:endParaRPr lang="en-US" sz="820" dirty="0"/>
          </a:p>
        </p:txBody>
      </p:sp>
      <p:sp>
        <p:nvSpPr>
          <p:cNvPr id="137" name="Shape 135"/>
          <p:cNvSpPr/>
          <p:nvPr/>
        </p:nvSpPr>
        <p:spPr>
          <a:xfrm>
            <a:off x="2798064" y="461772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843784" y="4617720"/>
            <a:ext cx="143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snapshot → MinIO</a:t>
            </a:r>
            <a:endParaRPr lang="en-US" sz="820" dirty="0"/>
          </a:p>
        </p:txBody>
      </p:sp>
      <p:sp>
        <p:nvSpPr>
          <p:cNvPr id="139" name="Shape 137"/>
          <p:cNvSpPr/>
          <p:nvPr/>
        </p:nvSpPr>
        <p:spPr>
          <a:xfrm>
            <a:off x="4334256" y="4617720"/>
            <a:ext cx="914400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379976" y="4617720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Via MinIO</a:t>
            </a:r>
            <a:endParaRPr lang="en-US" sz="820" dirty="0"/>
          </a:p>
        </p:txBody>
      </p:sp>
      <p:sp>
        <p:nvSpPr>
          <p:cNvPr id="141" name="Shape 139"/>
          <p:cNvSpPr/>
          <p:nvPr/>
        </p:nvSpPr>
        <p:spPr>
          <a:xfrm>
            <a:off x="5276088" y="4617720"/>
            <a:ext cx="566928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321808" y="461772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20" dirty="0"/>
          </a:p>
        </p:txBody>
      </p:sp>
      <p:sp>
        <p:nvSpPr>
          <p:cNvPr id="143" name="Shape 141"/>
          <p:cNvSpPr/>
          <p:nvPr/>
        </p:nvSpPr>
        <p:spPr>
          <a:xfrm>
            <a:off x="5870448" y="4617720"/>
            <a:ext cx="8961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916168" y="4617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20" dirty="0"/>
          </a:p>
        </p:txBody>
      </p:sp>
      <p:sp>
        <p:nvSpPr>
          <p:cNvPr id="145" name="Shape 143"/>
          <p:cNvSpPr/>
          <p:nvPr/>
        </p:nvSpPr>
        <p:spPr>
          <a:xfrm>
            <a:off x="6793992" y="4617720"/>
            <a:ext cx="2423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839712" y="461772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on-prem prod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 Datastores — Kine &amp; Beyond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K3s can replace etcd entirely using Kine — a translation shim to SQL databases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868680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578"/>
                </a:solidFill>
              </a:rPr>
              <a:t>🔌  What is Kine?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905256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Kine (Kubernetes Is Not Etcd) is a shim layer that translates Kubernetes etcd API calls to standard SQL. This lets K3s use PostgreSQL, MySQL, SQLite, or even CockroachDB as its datastore — removing the need for an etcd cluster entirely.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527048"/>
            <a:ext cx="137160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5270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Datastore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91056" y="1527048"/>
            <a:ext cx="109728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15270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24912" y="1527048"/>
            <a:ext cx="64008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5270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1568" y="1527048"/>
            <a:ext cx="265176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5270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Azure Backup Method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1527048"/>
            <a:ext cx="315468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52704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On-Prem Use Case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1874520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87452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etcd (embedded)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91056" y="187452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1874520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Dist. KV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24912" y="1874520"/>
            <a:ext cx="640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18745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✅ Raft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01568" y="1874520"/>
            <a:ext cx="2651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187452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k3s etcd-snapshot → Azure Blob S3-compat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9904" y="1874520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1874520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Production K3s, 3+ server HA clusters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2313432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313432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SQLite (Kine)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591056" y="2313432"/>
            <a:ext cx="10972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6776" y="2313432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Relational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24912" y="2313432"/>
            <a:ext cx="6400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0632" y="2313432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❌ Single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01568" y="2313432"/>
            <a:ext cx="265176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231343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cp /var/lib/.../state.db → Azure File Share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9904" y="2313432"/>
            <a:ext cx="31546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2313432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Dev/test, edge single-node, IoT gateways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2752344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752344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PostgreSQL (Kine)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591056" y="27523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36776" y="2752344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Relational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24912" y="2752344"/>
            <a:ext cx="640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70632" y="2752344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✅ Patroni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01568" y="2752344"/>
            <a:ext cx="2651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275234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pg_dump / WAL streaming → Azure Database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89904" y="2752344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2752344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Enterprise on-prem with existing DBA infra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" y="3191256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19125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MySQL/MariaDB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591056" y="3191256"/>
            <a:ext cx="10972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36776" y="3191256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Relational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24912" y="3191256"/>
            <a:ext cx="6400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3191256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✅ Replication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01568" y="3191256"/>
            <a:ext cx="265176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47288" y="319125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mysqldump / binlog → Azure MySQL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89904" y="3191256"/>
            <a:ext cx="31546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35624" y="3191256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Teams familiar with MySQL ops workflows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2880" y="3630168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3630168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CockroachDB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591056" y="363016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36776" y="3630168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Dist. SQL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24912" y="3630168"/>
            <a:ext cx="640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70632" y="3630168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✅ Raft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01568" y="3630168"/>
            <a:ext cx="2651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47288" y="363016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cockroach backup → Azure Blob S3-compat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89904" y="3630168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35624" y="363016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Geo-distributed edge or multi-site on-prem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82880" y="4069080"/>
            <a:ext cx="1371600" cy="420624"/>
          </a:xfrm>
          <a:prstGeom prst="rect">
            <a:avLst/>
          </a:prstGeom>
          <a:solidFill>
            <a:srgbClr val="E5F3FB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" y="4069080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4578"/>
                </a:solidFill>
              </a:rPr>
              <a:t>NATS JetStream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591056" y="4069080"/>
            <a:ext cx="10972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36776" y="4069080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Msg / KV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24912" y="4069080"/>
            <a:ext cx="6400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70632" y="406908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✅ Cluster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401568" y="4069080"/>
            <a:ext cx="265176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47288" y="406908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NATS snapshot → Azure Blob (S3-compat)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89904" y="4069080"/>
            <a:ext cx="3154680" cy="420624"/>
          </a:xfrm>
          <a:prstGeom prst="rect">
            <a:avLst/>
          </a:prstGeom>
          <a:solidFill>
            <a:srgbClr val="F4F5F7"/>
          </a:solidFill>
          <a:ln w="6350">
            <a:solidFill>
              <a:srgbClr val="DFE1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35624" y="4069080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</a:rPr>
              <a:t>Event-driven, IoT, real-time edge clusters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" y="4544568"/>
            <a:ext cx="8686800" cy="475488"/>
          </a:xfrm>
          <a:prstGeom prst="rect">
            <a:avLst/>
          </a:prstGeom>
          <a:solidFill>
            <a:srgbClr val="E5F3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56285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4578"/>
                </a:solidFill>
              </a:rPr>
              <a:t>💡  On-Prem Tip: Use PostgreSQL via Kine + Azure Database for PostgreSQL (managed) for simplified HA and native Azure backup integration.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 &amp; Cons — etcd vs Alternatives in K3s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Making the right datastore decision for your on-prem or Azure-connected environment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4251960" cy="3291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8696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etcd PROS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86968"/>
            <a:ext cx="4206240" cy="329184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869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etcd CONS / Kine Trade-offs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261872"/>
            <a:ext cx="42519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261872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8016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Battle-tested in massive production Kubernetes deployments worldwide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28600" y="1737360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737360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5564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Strong consistency via Raft — zero data loss under normal conditions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28600" y="2212848"/>
            <a:ext cx="42519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212848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23113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Native HA — survives minority node failures without any extra setup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28600" y="2688336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688336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06624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Kubernetes-native API — zero translation overhead vs Kine shim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28600" y="3163824"/>
            <a:ext cx="42519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163824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18211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K3s embeds it — no extra installation or separate cluster management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28600" y="3639312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639312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576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Azure Blob S3-compat backup native in K3s — one flag, done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42519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114800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13308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Watch API enables real-time event propagation across control plane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28600" y="4590288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4590288"/>
            <a:ext cx="457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60857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66534"/>
                </a:solidFill>
              </a:rPr>
              <a:t>✓  Defrag + compaction keeps storage lean over long cluster lifetimes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09160" y="1261872"/>
            <a:ext cx="42062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261872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2801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Requires odd node count (3+) for HA — resource-heavy for tiny edge nodes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709160" y="173736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737360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75564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Disk I/O sensitive — needs fast SSD; slow disk = leader elections = instability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709160" y="2212848"/>
            <a:ext cx="42062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212848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23113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8 GB quota — requires active compaction + defrag management in long-lived clusters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709160" y="2688336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688336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70662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Restore requires stopping ALL nodes — high blast radius during incident recovery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709160" y="3163824"/>
            <a:ext cx="42062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163824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18211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SQLite (Kine) easier but single-node only — not suitable for production HA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4709160" y="3639312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639312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65760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PostgreSQL via Kine adds external DB dependency and DBA overhead on-prem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709160" y="4114800"/>
            <a:ext cx="420624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9160" y="4114800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41330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NATS/CockroachDB: limited K3s community support and sparse documentation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4709160" y="4590288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4590288"/>
            <a:ext cx="45720" cy="438912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60857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91B1B"/>
                </a:solidFill>
              </a:rPr>
              <a:t>✗  etcdctl troubleshooting requires TLS cert paths — complex first-time setup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etcd Backup — Production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large organisations protect cluster state using Azure + on-prem hybrid approaches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86968"/>
            <a:ext cx="288036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869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 3-2-1 Backup Rule (Azure)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12710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3 copies: local disk, on-prem MinIO, Azure Blob (cross-region)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17830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Schedule: every 6h via --etcd-snapshot-schedule-cron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" y="22951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Retention: daily 7d, weekly 4w, monthly 12m via Azure lifecycle policy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91256" y="8869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91256" y="886968"/>
            <a:ext cx="2880360" cy="329184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8869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Monitoring &amp; Alerting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00984" y="12710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Alert: etcd_server_has_leader = 0 (PagerDuty / Azure Monitor)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00984" y="17830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Alert: etcd DB size &gt; 6 GB — trigger compaction before 8 GB quota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00984" y="22951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Track snapshot failures via Azure Blob Storage metrics + logs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81344" y="8869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FB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886968"/>
            <a:ext cx="2880360" cy="329184"/>
          </a:xfrm>
          <a:prstGeom prst="rect">
            <a:avLst/>
          </a:prstGeom>
          <a:solidFill>
            <a:srgbClr val="6B2FBA"/>
          </a:solidFill>
          <a:ln w="12700">
            <a:solidFill>
              <a:srgbClr val="6B2F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8869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  Restore Drills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91072" y="12710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Monthly restore test in staging — validate RTO &lt; 30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91072" y="17830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Run: k3s server --cluster-reset --cluster-reset-restore-path=...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91072" y="22951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Document runbook: who does what, in what order, on-call contact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29443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1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944368"/>
            <a:ext cx="2880360" cy="3291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9443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Security &amp; Encryption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0896" y="33284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Encrypt Secrets at rest with K8s EncryptionConfiguration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" y="38404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Azure Blob: enable SSE + CMK (Customer-Managed Key in Key Vault)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" y="43525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Rotate etcd TLS certs before expiry — check with openssl x509 -enddate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91256" y="29443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91256" y="2944368"/>
            <a:ext cx="2880360" cy="329184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9443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Azure Hybrid Pattern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00984" y="33284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On-prem K3s nodes → MinIO (local S3) → replicate to Azure Blob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00984" y="38404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Use Azure Arc to manage on-prem K3s clusters from Azure portal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00984" y="43525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Azure Monitor + Log Analytics for centralised etcd health dashboards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81344" y="2944368"/>
            <a:ext cx="288036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2944368"/>
            <a:ext cx="2880360" cy="32918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29443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GitOps + IaC Recovery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3328416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Store all manifests in Git — Flux/ArgoCD resyncs after restore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91072" y="384048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Terraform / Pulumi manages K3s infra — re-provision in minutes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4352544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▸  Combine etcd restore + GitOps for minimal-downtime DR strategy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Decision Guide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right etcd strategy for your K3s environment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86968"/>
            <a:ext cx="2743200" cy="384048"/>
          </a:xfrm>
          <a:prstGeom prst="ellipse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886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What's your K3s setup?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1289304"/>
            <a:ext cx="0" cy="274320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581912"/>
            <a:ext cx="2743200" cy="43891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" y="15819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/ 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039112"/>
            <a:ext cx="0" cy="256032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313432"/>
            <a:ext cx="2743200" cy="713232"/>
          </a:xfrm>
          <a:prstGeom prst="rect">
            <a:avLst/>
          </a:prstGeom>
          <a:solidFill>
            <a:srgbClr val="E5F3FB"/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31720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SQLite via Kine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Backup: copy state.db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Azure File Share sync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53128" y="1289304"/>
            <a:ext cx="0" cy="274320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1581912"/>
            <a:ext cx="274320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81528" y="15819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Servers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53128" y="2039112"/>
            <a:ext cx="0" cy="256032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81528" y="2313432"/>
            <a:ext cx="2743200" cy="713232"/>
          </a:xfrm>
          <a:prstGeom prst="rect">
            <a:avLst/>
          </a:prstGeom>
          <a:solidFill>
            <a:srgbClr val="E5F3FB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2331720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Embedded etcd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k3s etcd-snapshot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→ Azure Blob (native)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60920" y="1289304"/>
            <a:ext cx="0" cy="274320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581912"/>
            <a:ext cx="2743200" cy="438912"/>
          </a:xfrm>
          <a:prstGeom prst="rect">
            <a:avLst/>
          </a:prstGeom>
          <a:solidFill>
            <a:srgbClr val="6B2FBA"/>
          </a:solidFill>
          <a:ln w="12700">
            <a:solidFill>
              <a:srgbClr val="6B2FB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89320" y="15819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Nodes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2039112"/>
            <a:ext cx="0" cy="256032"/>
          </a:xfrm>
          <a:prstGeom prst="line">
            <a:avLst/>
          </a:prstGeom>
          <a:noFill/>
          <a:ln w="19050">
            <a:solidFill>
              <a:srgbClr val="8993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313432"/>
            <a:ext cx="2743200" cy="713232"/>
          </a:xfrm>
          <a:prstGeom prst="rect">
            <a:avLst/>
          </a:prstGeom>
          <a:solidFill>
            <a:srgbClr val="E5F3FB"/>
          </a:solidFill>
          <a:ln w="19050">
            <a:solidFill>
              <a:srgbClr val="6B2F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331720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etcd + MinIO + Azure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Velero for app backup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</a:rPr>
              <a:t>Azure Arc management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145536"/>
            <a:ext cx="8686800" cy="3017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145536"/>
            <a:ext cx="8686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511296"/>
            <a:ext cx="4279392" cy="694944"/>
          </a:xfrm>
          <a:prstGeom prst="rect">
            <a:avLst/>
          </a:prstGeom>
          <a:solidFill>
            <a:srgbClr val="E5F3FB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511296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" y="35661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etcd = Your Cluster Brain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" y="38587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Loss without backup = total cluster loss. Always backup and test restores monthly.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90872" y="3511296"/>
            <a:ext cx="4279392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3511296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5661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Azure Blob = Native S3-Compat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85876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K3s supports --etcd-s3 flags pointing to Azure Blob endpoint. Zero extra tooling needed.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279392"/>
            <a:ext cx="4279392" cy="694944"/>
          </a:xfrm>
          <a:prstGeom prst="rect">
            <a:avLst/>
          </a:prstGeom>
          <a:solidFill>
            <a:srgbClr val="E5F3FB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4279392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433425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🏭 On-Prem: MinIO + Azure Hybrid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" y="462686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Use MinIO locally (air-gapped), replicate to Azure Blob for off-site DR. Best of both worlds.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90872" y="4279392"/>
            <a:ext cx="4279392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DFE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90872" y="4279392"/>
            <a:ext cx="54864" cy="6949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433425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Kine for Simplicity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18888" y="462686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5F79"/>
                </a:solidFill>
              </a:rPr>
              <a:t>Single-node: SQLite. Enterprise on-prem HA: PostgreSQL via Kine. Production: embedded etcd.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&amp; Restore in K3s — Step-by-Step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760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F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procedure for both local and Azure Blob backup/restore with actual commands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4251960" cy="31089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86968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📸  BACKUP 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216152"/>
            <a:ext cx="4251960" cy="89611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" y="1307592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307592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1307592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463040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Cron-based auto (every 6h, keep 14)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--etcd-snapshot-schedule-cron '0 */6 * * *'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--etcd-snapshot-retention 14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28600" y="2139696"/>
            <a:ext cx="4251960" cy="74980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231136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231136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2231136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3865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Manual local snapshot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save --name prod-$(date +%F)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28600" y="2916936"/>
            <a:ext cx="4251960" cy="1078992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3008376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08376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008376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163824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Snapshot → Azure Blob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save --etcd-s3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--etcd-s3-endpoint https://&lt;acct&gt;.blob.core.windows.net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--etcd-s3-access-key &lt;acct-name&gt;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--etcd-s3-secret-key &lt;key&gt; --etcd-s3-bucket k3s-backups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28600" y="4023360"/>
            <a:ext cx="4251960" cy="640080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4114800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114800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4114800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42702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snapshots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etcd-snapshot list [--etcd-s3 &lt;azure-flags&gt;]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709160" y="886968"/>
            <a:ext cx="4206240" cy="31089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8869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♻️  RESTORE — Step by Step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243584"/>
            <a:ext cx="256032" cy="256032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12435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k3s on ALL nodes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1481328"/>
            <a:ext cx="3840480" cy="47548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38928" y="1572768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1572768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8112" y="1572768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17282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stop k3s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 EVERY server and agent node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709160" y="2029968"/>
            <a:ext cx="256032" cy="256032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029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2029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on first server only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267712"/>
            <a:ext cx="3840480" cy="47548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38928" y="2359152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2359152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68112" y="2359152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2514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k3s server --cluster-reset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--cluster-reset-restore-path=\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/path/to/snapshot.db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Azure: add --etcd-s3 flags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709160" y="2816352"/>
            <a:ext cx="256032" cy="256032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28163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DB on other servers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0" y="3054096"/>
            <a:ext cx="3840480" cy="47548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38928" y="3145536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3145536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68112" y="3145536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3300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/var/lib/rancher/k3s/server/db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ONLY on other server nodes (not agents)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709160" y="3602736"/>
            <a:ext cx="256032" cy="256032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9200" y="36027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first server node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0" y="3840480"/>
            <a:ext cx="3840480" cy="47548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138928" y="3931920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03520" y="3931920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68112" y="3931920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38928" y="4087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 k3s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until ready: kubectl get nodes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709160" y="4389120"/>
            <a:ext cx="256032" cy="256032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920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5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Rejoin remaining nodes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029200" y="4626864"/>
            <a:ext cx="3840480" cy="475488"/>
          </a:xfrm>
          <a:prstGeom prst="rect">
            <a:avLst/>
          </a:prstGeom>
          <a:solidFill>
            <a:srgbClr val="1B2B45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138928" y="4718304"/>
            <a:ext cx="91440" cy="91440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03520" y="4718304"/>
            <a:ext cx="91440" cy="914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68112" y="4718304"/>
            <a:ext cx="91440" cy="914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38928" y="4873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 k3s  # other servers + agents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They rejoin automatically via cluster token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etcd in K3s – Azure Backup, Commands &amp; On-Prem Guide</dc:title>
  <dc:subject>PptxGenJS Presentation</dc:subject>
  <dc:creator>PptxGenJS</dc:creator>
  <cp:lastModifiedBy>PptxGenJS</cp:lastModifiedBy>
  <cp:revision>1</cp:revision>
  <dcterms:created xsi:type="dcterms:W3CDTF">2026-04-27T07:59:48Z</dcterms:created>
  <dcterms:modified xsi:type="dcterms:W3CDTF">2026-04-27T07:59:48Z</dcterms:modified>
</cp:coreProperties>
</file>